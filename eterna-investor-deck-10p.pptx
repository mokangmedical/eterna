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总收入</c:v>
                </c:pt>
              </c:strCache>
            </c:strRef>
          </c:tx>
          <c:spPr>
            <a:solidFill>
              <a:srgbClr val="F3C4A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6F4F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100.3</c:v>
                </c:pt>
                <c:pt idx="1">
                  <c:v>534.8</c:v>
                </c:pt>
                <c:pt idx="2">
                  <c:v>2230.5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6F4F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842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28425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F1A97B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8ED6D1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475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亲人数字延续与家庭纪念服务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6656" y="93268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97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</a:t>
            </a:r>
            <a:endParaRPr lang="en-US" sz="2997" dirty="0"/>
          </a:p>
        </p:txBody>
      </p:sp>
      <p:sp>
        <p:nvSpPr>
          <p:cNvPr id="7" name="Text 5"/>
          <p:cNvSpPr/>
          <p:nvPr/>
        </p:nvSpPr>
        <p:spPr>
          <a:xfrm>
            <a:off x="676656" y="1828800"/>
            <a:ext cx="4480560" cy="63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把亲人的声音、记忆、面容和熟悉的关心方式，沉淀为一个可持续维护、会主动回应、可长期订阅的家庭数字陪伴服务。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" y="2834640"/>
            <a:ext cx="4434840" cy="1993392"/>
          </a:xfrm>
          <a:prstGeom prst="roundRect">
            <a:avLst>
              <a:gd name="adj" fmla="val 5505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30175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投资判断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65576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364992"/>
            <a:ext cx="3758184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情感纪念赛道具备高信任门槛，适合年付订阅与家庭账户。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904488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803904"/>
            <a:ext cx="3758184" cy="595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项目已完成产品、收费与部署底座，进入小规模试运营窗口。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343400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242816"/>
            <a:ext cx="3758184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若率先跑通“主动联系 + 付费留存”，可形成差异化壁垒。</a:t>
            </a:r>
            <a:endParaRPr lang="en-US" sz="1100" dirty="0"/>
          </a:p>
        </p:txBody>
      </p:sp>
      <p:pic>
        <p:nvPicPr>
          <p:cNvPr id="16" name="Image 0" descr="/Users/apple/Desktop/念念-Eterna/frontend/assets/eterna-demo-v2-poster.jpg">    </p:cNvPr>
          <p:cNvPicPr>
            <a:picLocks noChangeAspect="1"/>
          </p:cNvPicPr>
          <p:nvPr/>
        </p:nvPicPr>
        <p:blipFill>
          <a:blip r:embed="rId1"/>
          <a:srcRect l="20930" r="20930" t="0" b="0"/>
          <a:stretch/>
        </p:blipFill>
        <p:spPr>
          <a:xfrm>
            <a:off x="5897880" y="530352"/>
            <a:ext cx="5623560" cy="54406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97880" y="530352"/>
            <a:ext cx="5623560" cy="5440680"/>
          </a:xfrm>
          <a:prstGeom prst="roundRect">
            <a:avLst>
              <a:gd name="adj" fmla="val 3025"/>
            </a:avLst>
          </a:prstGeom>
          <a:solidFill>
            <a:srgbClr val="08111F">
              <a:alpha val="0"/>
            </a:srgbClr>
          </a:solidFill>
          <a:ln w="15240">
            <a:solidFill>
              <a:srgbClr val="F3C4A1">
                <a:alpha val="3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5285232"/>
            <a:ext cx="1572768" cy="841248"/>
          </a:xfrm>
          <a:prstGeom prst="roundRect">
            <a:avLst>
              <a:gd name="adj" fmla="val 13043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82512" y="543153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B2C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82512" y="58521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首阶段模式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55280" y="5285232"/>
            <a:ext cx="1737360" cy="841248"/>
          </a:xfrm>
          <a:prstGeom prst="roundRect">
            <a:avLst>
              <a:gd name="adj" fmla="val 13043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19872" y="543153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D6D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¥800万-1,200万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119872" y="585216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建议融资额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902952" y="5285232"/>
            <a:ext cx="1298448" cy="841248"/>
          </a:xfrm>
          <a:prstGeom prst="roundRect">
            <a:avLst>
              <a:gd name="adj" fmla="val 13043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067544" y="543153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5E0B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18个月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067544" y="5852160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验证周期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Investor Preview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8ED6D1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F1A97B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Problem &amp; Market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用户缺的不是一个更聪明的 AI，而是一个更像亲人的回应入口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需求本质是纪念、陪伴和传承三种家庭需求的叠加。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828800"/>
            <a:ext cx="3310128" cy="1783080"/>
          </a:xfrm>
          <a:prstGeom prst="roundRect">
            <a:avLst>
              <a:gd name="adj" fmla="val 6154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011680"/>
            <a:ext cx="841248" cy="256032"/>
          </a:xfrm>
          <a:prstGeom prst="roundRect">
            <a:avLst>
              <a:gd name="adj" fmla="val 35714"/>
            </a:avLst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0574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关系断点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24140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失去亲人之后，最痛的不是信息缺失，而是“再也没有那个熟悉的回应”。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5696" y="1828800"/>
            <a:ext cx="3310128" cy="1783080"/>
          </a:xfrm>
          <a:prstGeom prst="roundRect">
            <a:avLst>
              <a:gd name="adj" fmla="val 6154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2011680"/>
            <a:ext cx="841248" cy="256032"/>
          </a:xfrm>
          <a:prstGeom prst="roundRect">
            <a:avLst>
              <a:gd name="adj" fmla="val 35714"/>
            </a:avLst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0574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工具割裂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90288" y="24140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市场上已有语音克隆、照片动图和聊天机器人，但仍停留在单点工具层。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828800"/>
            <a:ext cx="3310128" cy="1783080"/>
          </a:xfrm>
          <a:prstGeom prst="roundRect">
            <a:avLst>
              <a:gd name="adj" fmla="val 6154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9328" y="2011680"/>
            <a:ext cx="841248" cy="256032"/>
          </a:xfrm>
          <a:prstGeom prst="roundRect">
            <a:avLst>
              <a:gd name="adj" fmla="val 35714"/>
            </a:avLst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20574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服务空白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39328" y="24140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用户真正需要的是一项会长期陪伴、而非一次性生成的家庭纪念服务。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40690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市场口径采用自下而上的管理假设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" y="43891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45354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3,000万户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" y="49560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TAM：具备纪念/陪伴/数字资产需求且可支付的家庭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84448" y="43891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45354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D6D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300万户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49040" y="49560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SAM：未来 3 年通过内容、私域、合作能触达的家庭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43891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56832" y="45354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5E0B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4.5万户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56832" y="49560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SOM：3 年内争取到的付费家庭目标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400032" y="4389120"/>
            <a:ext cx="2148840" cy="1143000"/>
          </a:xfrm>
          <a:prstGeom prst="roundRect">
            <a:avLst>
              <a:gd name="adj" fmla="val 960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01200" y="45720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判断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0" y="4882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这是一个不需要亿级 DAU，也能成立的高价值订阅赛道。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F1A97B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8ED6D1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Product 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念念的核心不是单点生成，而是把思念变成一条可反复回来的服务链路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流程越完整，用户资料越多，数字分身越像，切换成本越高。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874520"/>
            <a:ext cx="2487168" cy="1737360"/>
          </a:xfrm>
          <a:prstGeom prst="roundRect">
            <a:avLst>
              <a:gd name="adj" fmla="val 631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020824"/>
            <a:ext cx="713232" cy="256032"/>
          </a:xfrm>
          <a:prstGeom prst="roundRect">
            <a:avLst>
              <a:gd name="adj" fmla="val 35714"/>
            </a:avLst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665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3500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建档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734056"/>
            <a:ext cx="2194560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创建亲人档案，沉淀名字、关系、口头禅和关键回忆。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1874520"/>
            <a:ext cx="2487168" cy="1737360"/>
          </a:xfrm>
          <a:prstGeom prst="roundRect">
            <a:avLst>
              <a:gd name="adj" fmla="val 631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56432" y="2020824"/>
            <a:ext cx="713232" cy="256032"/>
          </a:xfrm>
          <a:prstGeom prst="roundRect">
            <a:avLst>
              <a:gd name="adj" fmla="val 35714"/>
            </a:avLst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20665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56432" y="23500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补素材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56432" y="2734056"/>
            <a:ext cx="2194560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上传语音、照片、视频，让声音、面容和神态逐步被还原。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874520"/>
            <a:ext cx="2487168" cy="1737360"/>
          </a:xfrm>
          <a:prstGeom prst="roundRect">
            <a:avLst>
              <a:gd name="adj" fmla="val 631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2020824"/>
            <a:ext cx="713232" cy="256032"/>
          </a:xfrm>
          <a:prstGeom prst="roundRect">
            <a:avLst>
              <a:gd name="adj" fmla="val 35714"/>
            </a:avLst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20665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89904" y="23500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对话陪伴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89904" y="2734056"/>
            <a:ext cx="2194560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根据素材完整度自动切换文字、语音、视频互动方式。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77072" y="1874520"/>
            <a:ext cx="2487168" cy="1737360"/>
          </a:xfrm>
          <a:prstGeom prst="roundRect">
            <a:avLst>
              <a:gd name="adj" fmla="val 631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23376" y="2020824"/>
            <a:ext cx="713232" cy="256032"/>
          </a:xfrm>
          <a:prstGeom prst="roundRect">
            <a:avLst>
              <a:gd name="adj" fmla="val 35714"/>
            </a:avLst>
          </a:prstGeom>
          <a:solidFill>
            <a:srgbClr val="F1A97B"/>
          </a:solidFill>
          <a:ln w="12700">
            <a:solidFill>
              <a:srgbClr val="F1A97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20665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23376" y="23500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主动联系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723376" y="2734056"/>
            <a:ext cx="2194560" cy="566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在生日、节日和普通日常中主动问候，形成长期留存。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80944" y="2468880"/>
            <a:ext cx="219456" cy="402336"/>
          </a:xfrm>
          <a:prstGeom prst="chevron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14416" y="2468880"/>
            <a:ext cx="219456" cy="402336"/>
          </a:xfrm>
          <a:prstGeom prst="chevron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2468880"/>
            <a:ext cx="219456" cy="402336"/>
          </a:xfrm>
          <a:prstGeom prst="chevron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078224"/>
            <a:ext cx="5440680" cy="1664208"/>
          </a:xfrm>
          <a:prstGeom prst="roundRect">
            <a:avLst>
              <a:gd name="adj" fmla="val 6593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77824" y="4279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四层产品方法论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32688" y="4745736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4645152"/>
            <a:ext cx="480974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记忆 Harness：把回忆、照片、语音、口头禅沉淀为人格底稿。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2688" y="5047488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" y="4946904"/>
            <a:ext cx="480974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 Harness：根据素材完整度动态开放文字、语音、视频模式。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2688" y="5349240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0704" y="5248656"/>
            <a:ext cx="480974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生命周期 Harness：把纪念从一次性行为升级为持续陪伴。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2688" y="5650992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" y="5550408"/>
            <a:ext cx="480974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传承 Harness：从个体纪念升级为家庭级数字资产。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64224" y="4078224"/>
            <a:ext cx="5148072" cy="1664208"/>
          </a:xfrm>
          <a:prstGeom prst="roundRect">
            <a:avLst>
              <a:gd name="adj" fmla="val 6593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65392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对投资人的含义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01968" y="4745736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9984" y="4645152"/>
            <a:ext cx="444398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真正的护城河不只是模型，而是流程、数据和信任三者叠加。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601968" y="5093208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9984" y="4992624"/>
            <a:ext cx="444398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随着档案、素材和主动联系累积，用户价值会持续上升。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601968" y="5440680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9984" y="5340096"/>
            <a:ext cx="444398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这更接近“家庭长期服务”，而不是一次性 AI 工具。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8ED6D1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F1A97B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Product Readiness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项目已完成产品、收费和部署底座，当前处于“可试运营、未规模冷启动”的阶段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这不是概念型项目，而是一个已经具备基础运营条件的早期产品。</a:t>
            </a:r>
            <a:endParaRPr lang="en-US" sz="1050" dirty="0"/>
          </a:p>
        </p:txBody>
      </p:sp>
      <p:pic>
        <p:nvPicPr>
          <p:cNvPr id="9" name="Image 0" descr="/Users/apple/Desktop/念念-Eterna/frontend/assets/eterna-demo-v2-po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74906"/>
            <a:ext cx="4160520" cy="234029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9808" y="1810512"/>
            <a:ext cx="4160520" cy="4069080"/>
          </a:xfrm>
          <a:prstGeom prst="roundRect">
            <a:avLst>
              <a:gd name="adj" fmla="val 4045"/>
            </a:avLst>
          </a:prstGeom>
          <a:solidFill>
            <a:srgbClr val="08111F">
              <a:alpha val="0"/>
            </a:srgbClr>
          </a:solidFill>
          <a:ln w="12700">
            <a:solidFill>
              <a:srgbClr val="8ED6D1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30368" y="1783080"/>
            <a:ext cx="6263640" cy="4069080"/>
          </a:xfrm>
          <a:prstGeom prst="roundRect">
            <a:avLst>
              <a:gd name="adj" fmla="val 2697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9824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代码库已体现的能力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2459736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14416" y="2359152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账号体系：注册、登录、会话管理。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5486400" y="2770632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14416" y="2670048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亲人档案：创建、查看、删除、权限隔离。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5486400" y="3081528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14416" y="2980944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回忆库：新增、查看、删除共同回忆。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486400" y="3392424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14416" y="3291840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素材库：语音、照片、视频上传与基础分析。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5486400" y="3703320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14416" y="3602736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互动：文字、语音、视频三类模式编排。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5486400" y="4014216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14416" y="3913632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主动联系：每日/每周节奏、手动触发、电话桥接接口。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5486400" y="4325112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14416" y="4224528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收费：套餐体系、Stripe Checkout、Portal、Webhook 同步。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5486400" y="4636008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14416" y="4535424"/>
            <a:ext cx="54498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部署：生产域名、systemd、Nginx、环境变量说明。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749808" y="5504688"/>
            <a:ext cx="2514600" cy="804672"/>
          </a:xfrm>
          <a:prstGeom prst="roundRect">
            <a:avLst>
              <a:gd name="adj" fmla="val 1363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14400" y="565099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Ready for Trial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14400" y="6071616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适合进入小规模验证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419856" y="5504688"/>
            <a:ext cx="2788920" cy="804672"/>
          </a:xfrm>
          <a:prstGeom prst="roundRect">
            <a:avLst>
              <a:gd name="adj" fmla="val 1363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584448" y="5650992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69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584448" y="6071616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本地数据库真实用户数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364224" y="5504688"/>
            <a:ext cx="2487168" cy="804672"/>
          </a:xfrm>
          <a:prstGeom prst="roundRect">
            <a:avLst>
              <a:gd name="adj" fmla="val 1363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528816" y="565099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D6D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Next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528816" y="607161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补齐授权与真实运营数据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9015984" y="5504688"/>
            <a:ext cx="2487168" cy="804672"/>
          </a:xfrm>
          <a:prstGeom prst="roundRect">
            <a:avLst>
              <a:gd name="adj" fmla="val 13636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180576" y="565099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5E0B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Gap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9180576" y="607161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实时视频与合规流程需强化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F1A97B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8ED6D1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最清晰、最容易验证的收入模式，是围绕“陪伴深度”设计的家庭年度订阅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建议先跑通年付订阅，再叠加增值服务和渠道合作。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792224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975104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208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Seed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思念种子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¥99/年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3227832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27248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文字对话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22960" y="3538728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438144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声音风格建模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22960" y="3849624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749040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 位亲人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483864" y="1792224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30168" y="1975104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20208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Tree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30168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思念之树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30168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D6D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¥299/年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630168" y="3227832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184" y="3127248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多位亲人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630168" y="3538728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8184" y="3438144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更多记忆容量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630168" y="3849624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58184" y="3749040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生日提醒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291072" y="1792224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37376" y="1975104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20208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Garden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37376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思念花园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37376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E0B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¥599/年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437376" y="3227832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3127248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视频陪伴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437376" y="3538728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3438144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完整纪念能力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437376" y="3849624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749040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优先体验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644384" y="1965960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4384" y="2020824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主推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098280" y="1792224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44584" y="1975104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F1A97B"/>
          </a:solidFill>
          <a:ln w="12700">
            <a:solidFill>
              <a:srgbClr val="F1A97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44584" y="20208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20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Family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244584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思念家族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244584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A97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¥999/年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9244584" y="3227832"/>
            <a:ext cx="73152" cy="73152"/>
          </a:xfrm>
          <a:prstGeom prst="ellipse">
            <a:avLst/>
          </a:prstGeom>
          <a:solidFill>
            <a:srgbClr val="F1A97B"/>
          </a:solidFill>
          <a:ln w="12700">
            <a:solidFill>
              <a:srgbClr val="F1A97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72600" y="3127248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家族传承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9244584" y="3538728"/>
            <a:ext cx="73152" cy="73152"/>
          </a:xfrm>
          <a:prstGeom prst="ellipse">
            <a:avLst/>
          </a:prstGeom>
          <a:solidFill>
            <a:srgbClr val="F1A97B"/>
          </a:solidFill>
          <a:ln w="12700">
            <a:solidFill>
              <a:srgbClr val="F1A97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72600" y="3438144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高容量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9244584" y="3849624"/>
            <a:ext cx="73152" cy="73152"/>
          </a:xfrm>
          <a:prstGeom prst="ellipse">
            <a:avLst/>
          </a:prstGeom>
          <a:solidFill>
            <a:srgbClr val="F1A97B"/>
          </a:solidFill>
          <a:ln w="12700">
            <a:solidFill>
              <a:srgbClr val="F1A97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72600" y="3749040"/>
            <a:ext cx="19751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定制化服务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676656" y="4956048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96112" y="51755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收入逻辑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32688" y="5605272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0704" y="5504688"/>
            <a:ext cx="471830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早期只盯住家庭年付订阅，降低模式复杂度。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932688" y="5861304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0704" y="5760720"/>
            <a:ext cx="471830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价格锚点不是 SaaS 工具，而是家庭情感服务。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932688" y="6117336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60704" y="6016752"/>
            <a:ext cx="471830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用户购买的是纪念深度、陪伴深度和长期保存权。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6309360" y="4956048"/>
            <a:ext cx="5193792" cy="1097280"/>
          </a:xfrm>
          <a:prstGeom prst="roundRect">
            <a:avLst>
              <a:gd name="adj" fmla="val 10000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528816" y="51755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中期扩展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565392" y="5605272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93408" y="5504688"/>
            <a:ext cx="45354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增值服务：声音纪念册、回忆影像、照片修复。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6565392" y="5916168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93408" y="5815584"/>
            <a:ext cx="45354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渠道合作：纪念服务、家庭影像、养老与心理支持机构。</a:t>
            </a:r>
            <a:endParaRPr lang="en-US" sz="1040" dirty="0"/>
          </a:p>
        </p:txBody>
      </p:sp>
      <p:sp>
        <p:nvSpPr>
          <p:cNvPr id="69" name="Shape 67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8ED6D1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F1A97B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Go To Market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这不是适合粗放投流的项目，更适合用内容教育、真实故事和高意愿场景拿下第一批家庭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核心打法是：高质量种子用户 -&gt; 真实付费验证 -&gt; 主动联系提升留存。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828800"/>
            <a:ext cx="5074920" cy="4370832"/>
          </a:xfrm>
          <a:prstGeom prst="roundRect">
            <a:avLst>
              <a:gd name="adj" fmla="val 251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048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三阶段增长路线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0704" y="2523744"/>
            <a:ext cx="0" cy="859536"/>
          </a:xfrm>
          <a:prstGeom prst="line">
            <a:avLst/>
          </a:prstGeom>
          <a:noFill/>
          <a:ln w="15240">
            <a:solidFill>
              <a:srgbClr val="2842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542032"/>
            <a:ext cx="256032" cy="25603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523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验证需求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品牌短片、产品故事页、用户访谈，先看用户是否愿意创建第一位亲人档案。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1060704" y="3639312"/>
            <a:ext cx="0" cy="859536"/>
          </a:xfrm>
          <a:prstGeom prst="line">
            <a:avLst/>
          </a:prstGeom>
          <a:noFill/>
          <a:ln w="15240">
            <a:solidFill>
              <a:srgbClr val="2842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657600"/>
            <a:ext cx="256032" cy="25603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639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验证付费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950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重点观察语音上传、回忆补齐和付费升级三类动作是否成立。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1060704" y="4754880"/>
            <a:ext cx="0" cy="237744"/>
          </a:xfrm>
          <a:prstGeom prst="line">
            <a:avLst/>
          </a:prstGeom>
          <a:noFill/>
          <a:ln w="15240">
            <a:solidFill>
              <a:srgbClr val="2842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773168"/>
            <a:ext cx="256032" cy="25603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754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验证留存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50657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重点看主动联系是否能显著提升 30 天回访与续费。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016752" y="18288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54496" y="2048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推荐渠道组合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2784" y="2569464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468880"/>
            <a:ext cx="47640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内容渠道：小红书、视频号、公众号、短视频平台。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6272784" y="2953512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852928"/>
            <a:ext cx="47640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私域与口碑：家庭群、老用户推荐、微信社群。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272784" y="3337560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236976"/>
            <a:ext cx="476402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合作渠道：纪念服务、家族影像、家庭服务与心理支持合作方。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6016752" y="4133088"/>
            <a:ext cx="5486400" cy="2066544"/>
          </a:xfrm>
          <a:prstGeom prst="roundRect">
            <a:avLst>
              <a:gd name="adj" fmla="val 531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54496" y="4352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经营上必须盯住的漏斗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2784" y="4837176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736592"/>
            <a:ext cx="471830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访问 -&gt; 建第一位亲人档案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6272784" y="5148072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5047488"/>
            <a:ext cx="471830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建档 -&gt; 补至少 3 条回忆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272784" y="5458968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5358384"/>
            <a:ext cx="471830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建档 -&gt; 上传至少 1 段语音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6272784" y="5769864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669280"/>
            <a:ext cx="4718304" cy="4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 -&gt; 开通付费 -&gt; 开启主动联系 -&gt; 续费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F1A97B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8ED6D1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Competition &amp; Moat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念念的竞争对手不是某一个模型，而是三类替代方案：通用 AI、单点生成工具、静态纪念服务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胜负手在于：谁能成为家庭长期信任的“回应入口”。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828800"/>
            <a:ext cx="5577840" cy="4315968"/>
          </a:xfrm>
          <a:prstGeom prst="roundRect">
            <a:avLst>
              <a:gd name="adj" fmla="val 2542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048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竞争定位矩阵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5413248"/>
            <a:ext cx="4160520" cy="0"/>
          </a:xfrm>
          <a:prstGeom prst="line">
            <a:avLst/>
          </a:prstGeom>
          <a:noFill/>
          <a:ln w="17780">
            <a:solidFill>
              <a:srgbClr val="2842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560320"/>
            <a:ext cx="0" cy="2852928"/>
          </a:xfrm>
          <a:prstGeom prst="line">
            <a:avLst/>
          </a:prstGeom>
          <a:noFill/>
          <a:ln w="17780">
            <a:solidFill>
              <a:srgbClr val="2842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16200000">
            <a:off x="1005840" y="26151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长期服务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 rot="16200000">
            <a:off x="969264" y="47091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一次性生成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55595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单点工具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25696" y="55595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平台化服务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4480560"/>
            <a:ext cx="219456" cy="219456"/>
          </a:xfrm>
          <a:prstGeom prst="ellipse">
            <a:avLst/>
          </a:prstGeom>
          <a:solidFill>
            <a:srgbClr val="8EA0B3"/>
          </a:solidFill>
          <a:ln w="12700">
            <a:solidFill>
              <a:srgbClr val="8EA0B3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4462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单点生成工具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3474720"/>
            <a:ext cx="219456" cy="219456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08960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通用 AI 聊天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4617720"/>
            <a:ext cx="219456" cy="219456"/>
          </a:xfrm>
          <a:prstGeom prst="ellipse">
            <a:avLst/>
          </a:prstGeom>
          <a:solidFill>
            <a:srgbClr val="F1A97B"/>
          </a:solidFill>
          <a:ln w="12700">
            <a:solidFill>
              <a:srgbClr val="F1A97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23360" y="4599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静态纪念服务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907792"/>
            <a:ext cx="292608" cy="292608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1828800"/>
            <a:ext cx="5029200" cy="4315968"/>
          </a:xfrm>
          <a:prstGeom prst="roundRect">
            <a:avLst>
              <a:gd name="adj" fmla="val 2542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9984" y="20482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护城河不在模型本身，而在三层叠加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48272" y="2642616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2542032"/>
            <a:ext cx="4315968" cy="429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流程护城河：建档、补素材、互动、主动联系形成完整闭环。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748272" y="3118104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3017520"/>
            <a:ext cx="4315968" cy="429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数据护城河：回忆、语音、照片、视频与聊天历史具家庭私密性。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6748272" y="3593592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3493008"/>
            <a:ext cx="4315968" cy="429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信任护城河：只要品牌始终克制、可信，就更适合进入家庭情绪空间。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6748272" y="4069080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3968496"/>
            <a:ext cx="4315968" cy="429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经营护城河：年付订阅 + 高留存 + 口碑传播，更适合低频高质量增长。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8ED6D1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F1A97B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Financial Outlook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在不追求极端规模的前提下，只要跑通年付订阅、付费升级和留存，业务就能形成健康单位经济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以下均为经营假设，不代表已实现的历史收入。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810512"/>
            <a:ext cx="6172200" cy="4407408"/>
          </a:xfrm>
          <a:prstGeom prst="roundRect">
            <a:avLst>
              <a:gd name="adj" fmla="val 249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0299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三年总收入预测（万元）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914400" y="2395728"/>
          <a:ext cx="5440680" cy="3127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077456" y="1810512"/>
            <a:ext cx="4425696" cy="2084832"/>
          </a:xfrm>
          <a:prstGeom prst="roundRect">
            <a:avLst>
              <a:gd name="adj" fmla="val 5263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96912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关键经营假设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2532888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43216" y="2432304"/>
            <a:ext cx="371246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以年付订阅为主。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315200" y="2880360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43216" y="2779776"/>
            <a:ext cx="371246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套餐结构逐步向中高档迁移。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315200" y="3227832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43216" y="3127248"/>
            <a:ext cx="371246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增值服务从 Y2 开始贡献明显收入。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077456" y="4151376"/>
            <a:ext cx="4425696" cy="2066544"/>
          </a:xfrm>
          <a:prstGeom prst="roundRect">
            <a:avLst>
              <a:gd name="adj" fmla="val 531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296912" y="43708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单位经济目标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0" y="4873752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43216" y="4773168"/>
            <a:ext cx="38039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CAC 回收周期：9-12 个月。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315200" y="5166360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43216" y="5065776"/>
            <a:ext cx="38039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首年续费率目标：55%-65%。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315200" y="5458968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43216" y="5358384"/>
            <a:ext cx="38039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主动联系开启用户留存提升：15%-25%。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7315200" y="5751576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43216" y="5650992"/>
            <a:ext cx="3803904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Y3 综合毛利率目标：72% 以上。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F1A97B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8ED6D1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Roadmap &amp; Use Of Funds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未来 18 个月，最关键的不是扩很多功能，而是把主链条跑通：建档 - 互动 - 主动联系 - 付费续费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融资用途应优先服务于 PMF，而不是过早追求多线扩张。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828800"/>
            <a:ext cx="6656832" cy="4389120"/>
          </a:xfrm>
          <a:prstGeom prst="roundRect">
            <a:avLst>
              <a:gd name="adj" fmla="val 2500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0482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 个月路线图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36192" y="2670048"/>
            <a:ext cx="1408176" cy="0"/>
          </a:xfrm>
          <a:prstGeom prst="line">
            <a:avLst/>
          </a:prstGeom>
          <a:noFill/>
          <a:ln w="25400">
            <a:solidFill>
              <a:srgbClr val="2842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2542032"/>
            <a:ext cx="292608" cy="292608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9809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0-3 个月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0976" y="3502152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401568"/>
            <a:ext cx="1591056" cy="55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打通支付真实环境与订阅回写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950976" y="3886200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785616"/>
            <a:ext cx="1591056" cy="55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补齐授权、隐私与删除/冻结机制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950976" y="4270248"/>
            <a:ext cx="73152" cy="73152"/>
          </a:xfrm>
          <a:prstGeom prst="ellipse">
            <a:avLst/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169664"/>
            <a:ext cx="1591056" cy="55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完成 30-50 个种子家庭访谈与内测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3529584" y="2670048"/>
            <a:ext cx="1408176" cy="0"/>
          </a:xfrm>
          <a:prstGeom prst="line">
            <a:avLst/>
          </a:prstGeom>
          <a:noFill/>
          <a:ln w="25400">
            <a:solidFill>
              <a:srgbClr val="2842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542032"/>
            <a:ext cx="292608" cy="292608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29809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3-9 个月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44368" y="3502152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2384" y="3401568"/>
            <a:ext cx="1591056" cy="55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获得 1,000-3,000 个注册家庭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2944368" y="3886200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2384" y="3785616"/>
            <a:ext cx="1591056" cy="41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 300-800 个付费家庭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2944368" y="4270248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72384" y="4169664"/>
            <a:ext cx="1591056" cy="41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验证主动联系对留存的提升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522976" y="2670048"/>
            <a:ext cx="0" cy="0"/>
          </a:xfrm>
          <a:prstGeom prst="line">
            <a:avLst/>
          </a:prstGeom>
          <a:noFill/>
          <a:ln w="25400">
            <a:solidFill>
              <a:srgbClr val="2842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76672" y="2542032"/>
            <a:ext cx="292608" cy="292608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9809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9-18 个月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937760" y="3502152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3401568"/>
            <a:ext cx="1591056" cy="41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扩展家族传承与多人协作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4937760" y="3886200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3785616"/>
            <a:ext cx="1591056" cy="41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拓展到小程序或原生 App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4937760" y="4270248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4169664"/>
            <a:ext cx="1591056" cy="41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建立合作渠道销售模型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7589520" y="1828800"/>
            <a:ext cx="3913632" cy="4389120"/>
          </a:xfrm>
          <a:prstGeom prst="roundRect">
            <a:avLst>
              <a:gd name="adj" fmla="val 2804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08976" y="2048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建议资金用途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27264" y="25968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产品与 AI 工程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27264" y="2816352"/>
            <a:ext cx="2633472" cy="164592"/>
          </a:xfrm>
          <a:prstGeom prst="roundRect">
            <a:avLst>
              <a:gd name="adj" fmla="val 27778"/>
            </a:avLst>
          </a:prstGeom>
          <a:solidFill>
            <a:srgbClr val="28425F">
              <a:alpha val="50000"/>
            </a:srgbClr>
          </a:solidFill>
          <a:ln w="12700">
            <a:solidFill>
              <a:srgbClr val="28425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27264" y="2816352"/>
            <a:ext cx="921715" cy="164592"/>
          </a:xfrm>
          <a:prstGeom prst="roundRect">
            <a:avLst>
              <a:gd name="adj" fmla="val 27778"/>
            </a:avLst>
          </a:prstGeom>
          <a:solidFill>
            <a:srgbClr val="F3C4A1"/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25328" y="27066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35%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27264" y="32735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增长与内容运营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27264" y="3493008"/>
            <a:ext cx="2633472" cy="164592"/>
          </a:xfrm>
          <a:prstGeom prst="roundRect">
            <a:avLst>
              <a:gd name="adj" fmla="val 27778"/>
            </a:avLst>
          </a:prstGeom>
          <a:solidFill>
            <a:srgbClr val="28425F">
              <a:alpha val="50000"/>
            </a:srgbClr>
          </a:solidFill>
          <a:ln w="12700">
            <a:solidFill>
              <a:srgbClr val="28425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27264" y="3493008"/>
            <a:ext cx="658368" cy="164592"/>
          </a:xfrm>
          <a:prstGeom prst="roundRect">
            <a:avLst>
              <a:gd name="adj" fmla="val 27778"/>
            </a:avLst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25328" y="33832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25%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27264" y="395020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合规与安全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827264" y="4169664"/>
            <a:ext cx="2633472" cy="164592"/>
          </a:xfrm>
          <a:prstGeom prst="roundRect">
            <a:avLst>
              <a:gd name="adj" fmla="val 27778"/>
            </a:avLst>
          </a:prstGeom>
          <a:solidFill>
            <a:srgbClr val="28425F">
              <a:alpha val="50000"/>
            </a:srgbClr>
          </a:solidFill>
          <a:ln w="12700">
            <a:solidFill>
              <a:srgbClr val="28425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27264" y="4169664"/>
            <a:ext cx="526694" cy="164592"/>
          </a:xfrm>
          <a:prstGeom prst="roundRect">
            <a:avLst>
              <a:gd name="adj" fmla="val 27778"/>
            </a:avLst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25328" y="405993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27264" y="462686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用户成功与服务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827264" y="4846320"/>
            <a:ext cx="2633472" cy="164592"/>
          </a:xfrm>
          <a:prstGeom prst="roundRect">
            <a:avLst>
              <a:gd name="adj" fmla="val 27778"/>
            </a:avLst>
          </a:prstGeom>
          <a:solidFill>
            <a:srgbClr val="28425F">
              <a:alpha val="50000"/>
            </a:srgbClr>
          </a:solidFill>
          <a:ln w="12700">
            <a:solidFill>
              <a:srgbClr val="28425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27264" y="4846320"/>
            <a:ext cx="263347" cy="164592"/>
          </a:xfrm>
          <a:prstGeom prst="roundRect">
            <a:avLst>
              <a:gd name="adj" fmla="val 27778"/>
            </a:avLst>
          </a:prstGeom>
          <a:solidFill>
            <a:srgbClr val="F1A97B"/>
          </a:solidFill>
          <a:ln w="12700">
            <a:solidFill>
              <a:srgbClr val="F1A97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625328" y="473659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10%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827264" y="5303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管理与预备金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827264" y="5522976"/>
            <a:ext cx="2633472" cy="164592"/>
          </a:xfrm>
          <a:prstGeom prst="roundRect">
            <a:avLst>
              <a:gd name="adj" fmla="val 27778"/>
            </a:avLst>
          </a:prstGeom>
          <a:solidFill>
            <a:srgbClr val="28425F">
              <a:alpha val="50000"/>
            </a:srgbClr>
          </a:solidFill>
          <a:ln w="12700">
            <a:solidFill>
              <a:srgbClr val="28425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27264" y="5522976"/>
            <a:ext cx="263347" cy="164592"/>
          </a:xfrm>
          <a:prstGeom prst="roundRect">
            <a:avLst>
              <a:gd name="adj" fmla="val 27778"/>
            </a:avLst>
          </a:prstGeom>
          <a:solidFill>
            <a:srgbClr val="8EA0B3"/>
          </a:solidFill>
          <a:ln w="12700">
            <a:solidFill>
              <a:srgbClr val="8EA0B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25328" y="54132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Confidential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548640"/>
            <a:ext cx="3840480" cy="2560320"/>
          </a:xfrm>
          <a:prstGeom prst="ellipse">
            <a:avLst/>
          </a:prstGeom>
          <a:solidFill>
            <a:srgbClr val="8ED6D1">
              <a:alpha val="18000"/>
            </a:srgbClr>
          </a:solidFill>
          <a:ln w="12700">
            <a:solidFill>
              <a:srgbClr val="F3C4A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200400" cy="2377440"/>
          </a:xfrm>
          <a:prstGeom prst="ellipse">
            <a:avLst/>
          </a:prstGeom>
          <a:solidFill>
            <a:srgbClr val="F1A97B">
              <a:alpha val="16000"/>
            </a:srgbClr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21792"/>
            <a:ext cx="384048" cy="0"/>
          </a:xfrm>
          <a:prstGeom prst="line">
            <a:avLst/>
          </a:prstGeom>
          <a:noFill/>
          <a:ln w="15875">
            <a:solidFill>
              <a:srgbClr val="F3C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86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建议发起 800 万至 1,200 万元种子前/种子轮融资，用 18 个月完成 PMF 与首批付费家庭验证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投资的核心逻辑是：用一轮资金，把“可被相信的情感科技服务”从产品原型推进到经营验证。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1901952"/>
            <a:ext cx="3182112" cy="2048256"/>
          </a:xfrm>
          <a:prstGeom prst="roundRect">
            <a:avLst>
              <a:gd name="adj" fmla="val 5357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139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融资建议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5237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C4A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¥800万-1,200万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96112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0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种子前 / 种子轮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901952"/>
            <a:ext cx="3584448" cy="2048256"/>
          </a:xfrm>
          <a:prstGeom prst="roundRect">
            <a:avLst>
              <a:gd name="adj" fmla="val 5357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52544" y="2139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 个月验收标准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0832" y="2624328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523744"/>
            <a:ext cx="288950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完成合规基础闭环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70832" y="2935224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2834640"/>
            <a:ext cx="288950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建立稳定试运营产品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3246120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3145536"/>
            <a:ext cx="288950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获得首批真实付费家庭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70832" y="3557016"/>
            <a:ext cx="73152" cy="73152"/>
          </a:xfrm>
          <a:prstGeom prst="ellipse">
            <a:avLst/>
          </a:prstGeom>
          <a:solidFill>
            <a:srgbClr val="8ED6D1"/>
          </a:solidFill>
          <a:ln w="12700">
            <a:solidFill>
              <a:srgbClr val="8ED6D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3456432"/>
            <a:ext cx="2889504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验证主动联系提升留存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36992" y="1901952"/>
            <a:ext cx="3566160" cy="2048256"/>
          </a:xfrm>
          <a:prstGeom prst="roundRect">
            <a:avLst>
              <a:gd name="adj" fmla="val 5357"/>
            </a:avLst>
          </a:prstGeom>
          <a:solidFill>
            <a:srgbClr val="17263D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74736" y="21396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为什么现在投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3024" y="2624328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523744"/>
            <a:ext cx="2834640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技术可用性已到达第一代产品门槛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193024" y="2971800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871216"/>
            <a:ext cx="2834640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情感陪伴正从泛 AI 走向垂直场景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193024" y="3319272"/>
            <a:ext cx="73152" cy="73152"/>
          </a:xfrm>
          <a:prstGeom prst="ellipse">
            <a:avLst/>
          </a:prstGeom>
          <a:solidFill>
            <a:srgbClr val="95E0BA"/>
          </a:solidFill>
          <a:ln w="12700">
            <a:solidFill>
              <a:srgbClr val="95E0B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218688"/>
            <a:ext cx="2834640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家庭级信任入口一旦建立，壁垒远高于通用工具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76656" y="4352544"/>
            <a:ext cx="10826496" cy="1243584"/>
          </a:xfrm>
          <a:prstGeom prst="roundRect">
            <a:avLst>
              <a:gd name="adj" fmla="val 8824"/>
            </a:avLst>
          </a:prstGeom>
          <a:solidFill>
            <a:srgbClr val="122136">
              <a:alpha val="97000"/>
            </a:srgbClr>
          </a:solidFill>
          <a:ln w="12700">
            <a:solidFill>
              <a:srgbClr val="28425F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9264" y="460857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4F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念念不是“复活亲人”的噱头产品，而是一个让纪念回到日常、让关系在数字时代被温和延续的长期服务。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" y="5870448"/>
            <a:ext cx="10826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Contact | 念念 Eterna 项目组 | 2026-04-09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1430">
            <a:solidFill>
              <a:srgbClr val="28425F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739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念念 Eterna | Funding Ask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EA0B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念念 Eterna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念念 Eterna 投资人 10 页路演版</dc:title>
  <dc:subject>Investor Deck</dc:subject>
  <dc:creator>OpenAI Codex</dc:creator>
  <cp:lastModifiedBy>OpenAI Codex</cp:lastModifiedBy>
  <cp:revision>1</cp:revision>
  <dcterms:created xsi:type="dcterms:W3CDTF">2026-04-09T13:40:03Z</dcterms:created>
  <dcterms:modified xsi:type="dcterms:W3CDTF">2026-04-09T13:40:03Z</dcterms:modified>
</cp:coreProperties>
</file>